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65" r:id="rId14"/>
    <p:sldId id="266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44402-1997-42FD-A9A3-970E67C2AC6D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BA761-96B9-4839-A699-90422918B0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81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BA761-96B9-4839-A699-90422918B04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843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3E8390-2E17-FFF3-4FE3-24068B286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375C21-4CBB-ED97-EAFA-8150B60CB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964C0-2CDC-9B59-5F07-A1147BEFE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A52E15-337C-13FF-7363-B27411E2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254634-26DD-2CA0-6303-CA9493D1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039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BB840-C616-6B55-3223-083B7050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35C055-1D4A-14A5-97E1-5A44CFC36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DE596B-A249-E576-510D-D523873C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E0860E-B0CC-684E-1139-5662F40F5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57085F-3E75-1E8E-DF44-CA7C0773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45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D8047-AD16-FC0F-2F46-787BCDCC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C0B196-BD47-8A08-7500-FA63EFF03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5C148-5C75-1CF8-7673-58DAAFB8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CB14C2-E616-2CB9-C489-55A97ECE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471E8D-D4CA-7EED-6C06-81C6F570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54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D268B3-9A0E-8506-4A33-A011A232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AF18EF-9BF9-03D2-9F5D-B42AD6433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A2C676-2962-7D00-BA10-64239DC63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F65EB7-A02C-3F69-84E9-22A68722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756E9A-C475-4DF8-343E-33C49BFA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3245AB-B861-D123-08F5-62D01ADD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55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4CFFB-9FE8-8AD6-922D-5AF0DCDF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2BF8AE-5644-B834-F09D-70316732C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298AE2-ECC0-3FB5-BBCE-E0C0268F8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166D94-2C0B-52A8-2C91-D67727601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095FCE-5BE3-9D1A-BC23-75C6B20BE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D93276-B1C3-F02A-DADF-159D62DD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84D863-5261-B741-FD10-F73C1E02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479031C-F4C4-1A81-ED50-CEE59F7E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57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3F19C-5658-88AC-E9C8-8696EF7C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93B780-9279-22FA-57B9-F3A0B93C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FF3C55-3E4C-AA9D-22BC-38B75ACC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9A35D1-A7D8-C88A-A7A8-983EBEC8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74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1E7E8C5-2343-26D7-BDB8-4B07DF54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C0FFB1-8346-B437-7E03-628463D1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354BA8-D623-7C8A-0AC8-C2CA2E17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80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999AA-B0FB-FDFD-96D9-BA312176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F69583-6EAB-4FEC-F4DC-7D6DA12D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AF6BF8-F102-E90A-2820-3D238897E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90419C-96C9-8D1C-013F-56C905D4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0A3F00-07AE-C768-F0B3-8CC67174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E0FC31-509F-0B00-09EC-A538C947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1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5D4E8-BC63-85E6-E8FD-6B312D69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03A800-4EA9-5267-3EE9-B2B898BC7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C259DA-2BAC-16E3-BB67-E4822175E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687125-D4ED-DF8A-2432-944E80696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91D82F-EB46-EC0C-BB19-C517DD7E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E18274-2BD3-DC52-FED2-D4104CEC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746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2C064-39AA-5FD0-69AA-B7297A35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AA1F56-CA88-EDAB-68BB-FF9AC0D2A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DEDADB-D6E1-E59C-B16B-254CA39A6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65D42F-13C1-D1FE-3A5A-C7BE6B42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B1883-4501-0E57-98FB-B5EE906D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87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D1E380-B2B4-F3BF-64DB-75DBB2C8B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B95FE21-BDAB-87EF-1ADD-C0F78E0DD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685888-8140-3F36-7B43-C761B2A3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B8EF55-5FD0-38E1-D927-42D8A2E7B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389487-8C84-4E3A-473A-CF85B207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96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CD346-9286-5E8B-C89E-855C5CF4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84421F-C389-F4F4-35C9-0DA46F952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3A78A9-B607-B6D6-DC20-B38DCD6FB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34640-0EFB-44FD-AB80-2381E7345023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CC137B-CD13-B0FF-8BB0-CCE3C1FBC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571B15-101C-C860-E84C-8623EF228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7D921-4CD3-49EF-8A8E-E2B08AE3B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80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mitriyKladiti/TZ-08_Cvetochnaya_Masterskaya_Lepestok24" TargetMode="External"/><Relationship Id="rId2" Type="http://schemas.openxmlformats.org/officeDocument/2006/relationships/hyperlink" Target="https://tz08masterskayalepestok24.vercel.app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1CB286-7416-E790-882D-559A5F51F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9000" contrast="3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58193" y="0"/>
            <a:ext cx="14308388" cy="685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162EF-C9C1-4773-91D3-1ECF65DD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919251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Сайт и сквозная аналитика заявок для скалодрома «Лепесток 24», ТЗ № 02/2026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 err="1">
                <a:solidFill>
                  <a:schemeClr val="bg1"/>
                </a:solidFill>
              </a:rPr>
              <a:t>Кладити</a:t>
            </a:r>
            <a:r>
              <a:rPr lang="ru-RU" dirty="0">
                <a:solidFill>
                  <a:schemeClr val="bg1"/>
                </a:solidFill>
              </a:rPr>
              <a:t> Дмитрий, группа 11/1-РПО-26/1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6DB6AC-8491-54EA-9AF7-C5F1351921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3737" y="3284376"/>
            <a:ext cx="2464526" cy="246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5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77727-0E45-CD72-EB36-C5118030D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8364"/>
          </a:xfrm>
        </p:spPr>
        <p:txBody>
          <a:bodyPr/>
          <a:lstStyle/>
          <a:p>
            <a:r>
              <a:rPr lang="ru-RU" dirty="0"/>
              <a:t>Проблема заказчика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8D4D5A-BFF9-65CC-E335-DCE70A802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24960"/>
            <a:ext cx="9144000" cy="2546835"/>
          </a:xfrm>
        </p:spPr>
        <p:txBody>
          <a:bodyPr/>
          <a:lstStyle/>
          <a:p>
            <a:pPr marL="342900" indent="-342900" algn="just">
              <a:buFontTx/>
              <a:buChar char="-"/>
            </a:pPr>
            <a:r>
              <a:rPr lang="ru-RU" dirty="0"/>
              <a:t>700 заказов в 1 месяц</a:t>
            </a:r>
          </a:p>
          <a:p>
            <a:pPr marL="342900" indent="-342900" algn="just">
              <a:buFontTx/>
              <a:buChar char="-"/>
            </a:pPr>
            <a:r>
              <a:rPr lang="ru-RU" dirty="0"/>
              <a:t>300 заказов в праздничную неделю</a:t>
            </a:r>
          </a:p>
          <a:p>
            <a:pPr marL="342900" indent="-342900" algn="just">
              <a:buFontTx/>
              <a:buChar char="-"/>
            </a:pPr>
            <a:r>
              <a:rPr lang="ru-RU" dirty="0"/>
              <a:t>15 – 20 минут на одну переписку</a:t>
            </a:r>
          </a:p>
          <a:p>
            <a:pPr marL="342900" indent="-342900" algn="just">
              <a:buFontTx/>
              <a:buChar char="-"/>
            </a:pPr>
            <a:r>
              <a:rPr lang="ru-RU" dirty="0"/>
              <a:t>120 попущенных клиентов 8 Марта 2026 года</a:t>
            </a:r>
          </a:p>
          <a:p>
            <a:pPr marL="342900" indent="-342900" algn="just">
              <a:buFontTx/>
              <a:buChar char="-"/>
            </a:pPr>
            <a:r>
              <a:rPr lang="ru-RU" dirty="0"/>
              <a:t>50000 р на рекламу в месяц</a:t>
            </a:r>
          </a:p>
        </p:txBody>
      </p:sp>
    </p:spTree>
    <p:extLst>
      <p:ext uri="{BB962C8B-B14F-4D97-AF65-F5344CB8AC3E}">
        <p14:creationId xmlns:p14="http://schemas.microsoft.com/office/powerpoint/2010/main" val="301300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5DA7B-18AC-8E8B-8E7A-2AE8A872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Схема решения проблемы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59A6003-BE63-4D71-29D6-81AD9D1F2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3346"/>
            <a:ext cx="9708283" cy="249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9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572C0-4DF2-E20C-A143-51273B59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70" y="1107167"/>
            <a:ext cx="7846340" cy="1572704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+mn-lt"/>
              </a:rPr>
              <a:t>- 8 страниц</a:t>
            </a:r>
            <a:br>
              <a:rPr lang="ru-RU" sz="2400" dirty="0">
                <a:latin typeface="+mn-lt"/>
              </a:rPr>
            </a:br>
            <a:r>
              <a:rPr lang="ru-RU" sz="2400" dirty="0">
                <a:latin typeface="+mn-lt"/>
              </a:rPr>
              <a:t>- Загружен через </a:t>
            </a:r>
            <a:r>
              <a:rPr lang="en-US" sz="2400" dirty="0" err="1">
                <a:latin typeface="+mn-lt"/>
              </a:rPr>
              <a:t>Vercel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- </a:t>
            </a:r>
            <a:r>
              <a:rPr lang="ru-RU" sz="2400" dirty="0">
                <a:latin typeface="+mn-lt"/>
              </a:rPr>
              <a:t>Создан с помощью передовых </a:t>
            </a:r>
            <a:r>
              <a:rPr lang="en-US" sz="2400" dirty="0">
                <a:latin typeface="+mn-lt"/>
              </a:rPr>
              <a:t>AI</a:t>
            </a:r>
            <a:r>
              <a:rPr lang="ru-RU" sz="2400" dirty="0">
                <a:latin typeface="+mn-lt"/>
              </a:rPr>
              <a:t> технологий </a:t>
            </a:r>
            <a:r>
              <a:rPr lang="en-US" sz="2400" dirty="0">
                <a:latin typeface="+mn-lt"/>
              </a:rPr>
              <a:t>ChatGPT-6</a:t>
            </a:r>
            <a:endParaRPr lang="ru-RU" sz="2400" dirty="0">
              <a:latin typeface="+mn-lt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8332ADC-B08B-5AB9-30B2-3E531CDE5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98" y="2679871"/>
            <a:ext cx="7507600" cy="3469002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55EA0B-B783-0A42-0164-332A2DEC8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091" y="365125"/>
            <a:ext cx="2739808" cy="602757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AA6423B-B59C-EF5B-A2FD-4904FC88CB79}"/>
              </a:ext>
            </a:extLst>
          </p:cNvPr>
          <p:cNvSpPr txBox="1">
            <a:spLocks/>
          </p:cNvSpPr>
          <p:nvPr/>
        </p:nvSpPr>
        <p:spPr>
          <a:xfrm>
            <a:off x="691170" y="256473"/>
            <a:ext cx="36125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Сайт</a:t>
            </a:r>
          </a:p>
        </p:txBody>
      </p:sp>
    </p:spTree>
    <p:extLst>
      <p:ext uri="{BB962C8B-B14F-4D97-AF65-F5344CB8AC3E}">
        <p14:creationId xmlns:p14="http://schemas.microsoft.com/office/powerpoint/2010/main" val="310628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AD93D-544E-F5F9-8EAB-38A038D5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115824"/>
            <a:ext cx="10515600" cy="1325563"/>
          </a:xfrm>
        </p:spPr>
        <p:txBody>
          <a:bodyPr/>
          <a:lstStyle/>
          <a:p>
            <a:r>
              <a:rPr lang="ru-RU" dirty="0"/>
              <a:t>Путь заявки-1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B6789B-A64D-29EC-1650-384F07F91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817" y="1777289"/>
            <a:ext cx="10515600" cy="4351338"/>
          </a:xfrm>
        </p:spPr>
        <p:txBody>
          <a:bodyPr/>
          <a:lstStyle/>
          <a:p>
            <a:r>
              <a:rPr lang="ru-RU" dirty="0"/>
              <a:t>Ссылка на страницу с </a:t>
            </a:r>
            <a:r>
              <a:rPr lang="en-US" dirty="0"/>
              <a:t>UTM-</a:t>
            </a:r>
            <a:r>
              <a:rPr lang="ru-RU" dirty="0"/>
              <a:t>метками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199018-D150-27B8-C7AB-0EEC9B65F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6950"/>
            <a:ext cx="12192000" cy="21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3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6CECF-74E9-97E0-4B86-F198CA53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Путь заявки-2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21E4E5E-6F5F-C88F-967D-FB15D640B8C8}"/>
              </a:ext>
            </a:extLst>
          </p:cNvPr>
          <p:cNvSpPr txBox="1">
            <a:spLocks/>
          </p:cNvSpPr>
          <p:nvPr/>
        </p:nvSpPr>
        <p:spPr>
          <a:xfrm>
            <a:off x="772886" y="18053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Заполнение формы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CB6004-8B80-7249-F789-6908B2E01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801" y="365125"/>
            <a:ext cx="5779904" cy="590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8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3CB28-B0C2-474D-4DCB-9339E9965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Путь заявки-3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9ADF23-3A68-B2FD-F487-DFC1B4ECA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Строка в листе </a:t>
            </a:r>
            <a:r>
              <a:rPr lang="ru-RU" dirty="0" err="1"/>
              <a:t>leads</a:t>
            </a:r>
            <a:r>
              <a:rPr lang="ru-RU" dirty="0"/>
              <a:t> с метками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687647-197B-5C34-895C-BB21E82AB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4066"/>
            <a:ext cx="12192000" cy="218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2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678647-55B1-EFF2-06E1-A1AB9932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Путь заявки-4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48CC778-E6C2-BD48-FEBD-6A39EACC1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5796" y="1690688"/>
            <a:ext cx="4170784" cy="4351338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A9353F34-4AE0-2601-E6EF-3C5AD45F00EF}"/>
              </a:ext>
            </a:extLst>
          </p:cNvPr>
          <p:cNvSpPr txBox="1">
            <a:spLocks/>
          </p:cNvSpPr>
          <p:nvPr/>
        </p:nvSpPr>
        <p:spPr>
          <a:xfrm>
            <a:off x="772886" y="18053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generate_lead</a:t>
            </a:r>
            <a:r>
              <a:rPr lang="en-US" dirty="0"/>
              <a:t> </a:t>
            </a:r>
            <a:r>
              <a:rPr lang="ru-RU" dirty="0"/>
              <a:t>попадает в </a:t>
            </a:r>
            <a:r>
              <a:rPr lang="en-US" dirty="0"/>
              <a:t>Realtime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BC0F63-0947-140B-B511-D5F834639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37" y="3429000"/>
            <a:ext cx="4401164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67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52C28-34D0-EC74-0B54-C1653A92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Instagram → </a:t>
            </a:r>
            <a:r>
              <a:rPr lang="ru-RU" dirty="0"/>
              <a:t>сайт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91A1D2-2735-E31B-390E-34A803A46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5155" cy="4351338"/>
          </a:xfrm>
        </p:spPr>
        <p:txBody>
          <a:bodyPr/>
          <a:lstStyle/>
          <a:p>
            <a:r>
              <a:rPr lang="ru-RU" dirty="0"/>
              <a:t>Подключенный </a:t>
            </a:r>
            <a:r>
              <a:rPr lang="en-US" dirty="0" err="1"/>
              <a:t>ManyChat</a:t>
            </a:r>
            <a:r>
              <a:rPr lang="ru-RU" dirty="0"/>
              <a:t> позволяет отвечать автоматически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B2AF04-1892-0827-80A8-B7E3484DF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053" y="3153606"/>
            <a:ext cx="3780199" cy="22552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97CB36-5BF5-8A72-295F-E9540E5A6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870" y="1690688"/>
            <a:ext cx="3372321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176C8-CA0F-6482-B71F-5663711AE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GA4: </a:t>
            </a:r>
            <a:r>
              <a:rPr lang="ru-RU" b="1" dirty="0"/>
              <a:t>события и источники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1CE9A1-8EA6-EDDA-6505-41C1E6603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70" y="1368425"/>
            <a:ext cx="10515600" cy="4351338"/>
          </a:xfrm>
        </p:spPr>
        <p:txBody>
          <a:bodyPr/>
          <a:lstStyle/>
          <a:p>
            <a:r>
              <a:rPr lang="en-US" dirty="0"/>
              <a:t>23</a:t>
            </a:r>
            <a:r>
              <a:rPr lang="ru-RU" dirty="0"/>
              <a:t> ключевых события</a:t>
            </a:r>
          </a:p>
          <a:p>
            <a:r>
              <a:rPr lang="ru-RU" dirty="0"/>
              <a:t>Виден источник события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F5B756-4D00-AC77-FA94-4A3DBD60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30" y="2554914"/>
            <a:ext cx="10501270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7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57E8B-7F31-40BB-22DE-295366CF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8" y="-139959"/>
            <a:ext cx="10515600" cy="1325563"/>
          </a:xfrm>
        </p:spPr>
        <p:txBody>
          <a:bodyPr/>
          <a:lstStyle/>
          <a:p>
            <a:r>
              <a:rPr lang="ru-RU" dirty="0"/>
              <a:t>Воронка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611BAE-E06D-7715-7202-9ED8C3972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079" y="920556"/>
            <a:ext cx="10515600" cy="4351338"/>
          </a:xfrm>
        </p:spPr>
        <p:txBody>
          <a:bodyPr/>
          <a:lstStyle/>
          <a:p>
            <a:r>
              <a:rPr lang="ru-RU" dirty="0"/>
              <a:t>воронка из </a:t>
            </a:r>
            <a:r>
              <a:rPr lang="ru-RU" dirty="0" err="1"/>
              <a:t>Explore</a:t>
            </a:r>
            <a:r>
              <a:rPr lang="ru-RU" dirty="0"/>
              <a:t>, 4 шага</a:t>
            </a:r>
          </a:p>
          <a:p>
            <a:r>
              <a:rPr lang="ru-RU" dirty="0"/>
              <a:t>Большее количество потерь между выбором и расчетом доставки</a:t>
            </a:r>
          </a:p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DDD714-BB50-E29B-D365-98A52FAB7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21" y="1952076"/>
            <a:ext cx="9925473" cy="450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3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269D2-1939-BED6-097D-AFE445522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получил бизнес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D1ED9938-327F-57E0-E2CD-C4122C5505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357786"/>
              </p:ext>
            </p:extLst>
          </p:nvPr>
        </p:nvGraphicFramePr>
        <p:xfrm>
          <a:off x="838200" y="1945640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611170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34847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Было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Стало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7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заявки теряются в переписках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 заявки в одной таблице со статусом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63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источник клиента неизвестен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 каждой заявки есть канал и кампания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728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бюджет «по ощущениям»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заявки и продажи по каждому каналу в аналитике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78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06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062DE-304A-0800-223B-5B259A45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помог ИИ и что было сложно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CD54FB-2CBC-5D73-2697-FCD1D723D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Создания кода основных страниц сайта</a:t>
            </a:r>
          </a:p>
          <a:p>
            <a:r>
              <a:rPr lang="ru-RU" dirty="0"/>
              <a:t>Создания кода событий</a:t>
            </a:r>
          </a:p>
          <a:p>
            <a:r>
              <a:rPr lang="ru-RU" dirty="0"/>
              <a:t>Было очень сложно ждать, пока аналитика примет все </a:t>
            </a:r>
            <a:r>
              <a:rPr lang="en-US" dirty="0" err="1"/>
              <a:t>utm</a:t>
            </a:r>
            <a:r>
              <a:rPr lang="ru-RU" dirty="0"/>
              <a:t> метки и обработает их</a:t>
            </a:r>
          </a:p>
          <a:p>
            <a:r>
              <a:rPr lang="ru-RU" dirty="0"/>
              <a:t>Было сложно писать код для </a:t>
            </a:r>
            <a:r>
              <a:rPr lang="en-US" dirty="0"/>
              <a:t>Apps Script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 err="1"/>
              <a:t>ии</a:t>
            </a:r>
            <a:r>
              <a:rPr lang="ru-RU" dirty="0"/>
              <a:t> этого не умеет</a:t>
            </a:r>
          </a:p>
          <a:p>
            <a:r>
              <a:rPr lang="ru-RU" dirty="0"/>
              <a:t>Не получилось настроить дашборд в Yandex </a:t>
            </a:r>
            <a:r>
              <a:rPr lang="ru-RU" dirty="0" err="1"/>
              <a:t>DataLens</a:t>
            </a:r>
            <a:r>
              <a:rPr lang="ru-RU" dirty="0"/>
              <a:t>, так как ресурс работает нестабильно</a:t>
            </a:r>
          </a:p>
          <a:p>
            <a:r>
              <a:rPr lang="ru-RU" dirty="0"/>
              <a:t>Не получилось создать отчет </a:t>
            </a:r>
            <a:r>
              <a:rPr lang="ru-RU" dirty="0" err="1"/>
              <a:t>key-events</a:t>
            </a:r>
            <a:r>
              <a:rPr lang="ru-RU" dirty="0"/>
              <a:t>. Нужные события отмечены, но аналитика не может их отобразить их через фильтр ключевых событий.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8863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62F07-7E51-C04D-E472-15F5837C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9C974-0FCD-01AA-6AA7-03DB9B7E1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/>
          <a:lstStyle/>
          <a:p>
            <a:r>
              <a:rPr lang="ru-RU" dirty="0"/>
              <a:t>Сайт: </a:t>
            </a:r>
            <a:r>
              <a:rPr lang="en-US" dirty="0">
                <a:hlinkClick r:id="rId2"/>
              </a:rPr>
              <a:t>https://tz08masterskayalepestok24.vercel.app/</a:t>
            </a:r>
            <a:endParaRPr lang="ru-RU" dirty="0"/>
          </a:p>
          <a:p>
            <a:r>
              <a:rPr lang="ru-RU" dirty="0"/>
              <a:t>Репозиторий: </a:t>
            </a:r>
            <a:r>
              <a:rPr lang="en-US" dirty="0">
                <a:hlinkClick r:id="rId3"/>
              </a:rPr>
              <a:t>https://github.com/DmitriyKladiti/TZ-08_Cvetochnaya_Masterskaya_Lepestok24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FE4417-5089-5E93-71EC-9BCD3CBD1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694" y="3240931"/>
            <a:ext cx="3149082" cy="31490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163C92-C5CF-2A84-17FE-B7BD80254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24" y="3375867"/>
            <a:ext cx="2936033" cy="2936033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3A895F00-D08B-3681-8A62-9A3BF4E65B58}"/>
              </a:ext>
            </a:extLst>
          </p:cNvPr>
          <p:cNvSpPr txBox="1">
            <a:spLocks/>
          </p:cNvSpPr>
          <p:nvPr/>
        </p:nvSpPr>
        <p:spPr>
          <a:xfrm>
            <a:off x="4248927" y="3964799"/>
            <a:ext cx="3694145" cy="1701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</a:t>
            </a:r>
            <a:r>
              <a:rPr lang="ru-RU" dirty="0">
                <a:sym typeface="Wingdings" panose="05000000000000000000" pitchFamily="2" charset="2"/>
              </a:rPr>
              <a:t> Сайт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ru-RU" dirty="0">
                <a:sym typeface="Wingdings" panose="05000000000000000000" pitchFamily="2" charset="2"/>
              </a:rPr>
              <a:t>	Репозиторий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951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286</Words>
  <Application>Microsoft Office PowerPoint</Application>
  <PresentationFormat>Широкоэкранный</PresentationFormat>
  <Paragraphs>48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Тема Office</vt:lpstr>
      <vt:lpstr>Сайт и сквозная аналитика заявок для скалодрома «Лепесток 24», ТЗ № 02/2026 Кладити Дмитрий, группа 11/1-РПО-26/1 </vt:lpstr>
      <vt:lpstr>Проблема заказчика</vt:lpstr>
      <vt:lpstr>Схема решения проблемы</vt:lpstr>
      <vt:lpstr>- 8 страниц - Загружен через Vercel - Создан с помощью передовых AI технологий ChatGPT-6</vt:lpstr>
      <vt:lpstr>Путь заявки-1</vt:lpstr>
      <vt:lpstr>Путь заявки-2</vt:lpstr>
      <vt:lpstr>Путь заявки-3</vt:lpstr>
      <vt:lpstr>Путь заявки-4</vt:lpstr>
      <vt:lpstr>Instagram → сайт</vt:lpstr>
      <vt:lpstr>GA4: события и источники </vt:lpstr>
      <vt:lpstr>Воронка</vt:lpstr>
      <vt:lpstr>Что получил бизнес</vt:lpstr>
      <vt:lpstr>Как помог ИИ и что было сложно</vt:lpstr>
      <vt:lpstr>Ссылки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6</cp:revision>
  <dcterms:created xsi:type="dcterms:W3CDTF">2026-10-28T14:55:50Z</dcterms:created>
  <dcterms:modified xsi:type="dcterms:W3CDTF">2026-10-28T16:07:13Z</dcterms:modified>
</cp:coreProperties>
</file>